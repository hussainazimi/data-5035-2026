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7" r:id="rId3"/>
    <p:sldId id="263" r:id="rId4"/>
    <p:sldId id="267" r:id="rId5"/>
    <p:sldId id="268" r:id="rId6"/>
    <p:sldId id="261" r:id="rId7"/>
    <p:sldId id="266" r:id="rId8"/>
    <p:sldId id="265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312847-AC3A-4E9D-BF24-8D52167696B4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BF6498-EBA6-4437-A498-F7629C617CE3}">
      <dgm:prSet/>
      <dgm:spPr/>
      <dgm:t>
        <a:bodyPr/>
        <a:lstStyle/>
        <a:p>
          <a:r>
            <a:rPr lang="en-US"/>
            <a:t>Manufacture-to-customer (M2C) startups aim to sell products directly from manufacturers to customers, bypassing middlemen. While this model reduces costs, it introduces challenges:</a:t>
          </a:r>
        </a:p>
      </dgm:t>
    </dgm:pt>
    <dgm:pt modelId="{8CEFB895-4100-421D-90A6-3948054099C2}" type="parTrans" cxnId="{258CF0ED-0CE6-4BAA-A0E1-AF9D974ECA61}">
      <dgm:prSet/>
      <dgm:spPr/>
      <dgm:t>
        <a:bodyPr/>
        <a:lstStyle/>
        <a:p>
          <a:endParaRPr lang="en-US"/>
        </a:p>
      </dgm:t>
    </dgm:pt>
    <dgm:pt modelId="{C50360C1-AA25-4EAA-9D41-F1B3E08ECBE6}" type="sibTrans" cxnId="{258CF0ED-0CE6-4BAA-A0E1-AF9D974ECA61}">
      <dgm:prSet/>
      <dgm:spPr/>
      <dgm:t>
        <a:bodyPr/>
        <a:lstStyle/>
        <a:p>
          <a:endParaRPr lang="en-US"/>
        </a:p>
      </dgm:t>
    </dgm:pt>
    <dgm:pt modelId="{6E018ECD-026E-481D-8B01-6FAE97AE881F}">
      <dgm:prSet/>
      <dgm:spPr/>
      <dgm:t>
        <a:bodyPr/>
        <a:lstStyle/>
        <a:p>
          <a:r>
            <a:rPr lang="en-US"/>
            <a:t>Managing inventory and stock levels in real-Time.</a:t>
          </a:r>
        </a:p>
      </dgm:t>
    </dgm:pt>
    <dgm:pt modelId="{121D140A-558C-450D-9C0A-4E044ED790F9}" type="parTrans" cxnId="{8AC2DCE1-328B-4C84-B834-E906273F8607}">
      <dgm:prSet/>
      <dgm:spPr/>
      <dgm:t>
        <a:bodyPr/>
        <a:lstStyle/>
        <a:p>
          <a:endParaRPr lang="en-US"/>
        </a:p>
      </dgm:t>
    </dgm:pt>
    <dgm:pt modelId="{D317B663-39F2-4E92-8D5E-55FBA882A5A9}" type="sibTrans" cxnId="{8AC2DCE1-328B-4C84-B834-E906273F8607}">
      <dgm:prSet/>
      <dgm:spPr/>
      <dgm:t>
        <a:bodyPr/>
        <a:lstStyle/>
        <a:p>
          <a:endParaRPr lang="en-US"/>
        </a:p>
      </dgm:t>
    </dgm:pt>
    <dgm:pt modelId="{F925BFB6-161E-4642-A695-3C66E6B11277}">
      <dgm:prSet/>
      <dgm:spPr/>
      <dgm:t>
        <a:bodyPr/>
        <a:lstStyle/>
        <a:p>
          <a:r>
            <a:rPr lang="en-US"/>
            <a:t>Tracking orders and shipments efficiently.</a:t>
          </a:r>
        </a:p>
      </dgm:t>
    </dgm:pt>
    <dgm:pt modelId="{56BC05FB-4EFD-4273-A415-F6A808433436}" type="parTrans" cxnId="{6041CB22-FE9A-48E3-9100-1553A0DB6517}">
      <dgm:prSet/>
      <dgm:spPr/>
      <dgm:t>
        <a:bodyPr/>
        <a:lstStyle/>
        <a:p>
          <a:endParaRPr lang="en-US"/>
        </a:p>
      </dgm:t>
    </dgm:pt>
    <dgm:pt modelId="{70A1A833-7A46-4C44-B93B-2A30824629AF}" type="sibTrans" cxnId="{6041CB22-FE9A-48E3-9100-1553A0DB6517}">
      <dgm:prSet/>
      <dgm:spPr/>
      <dgm:t>
        <a:bodyPr/>
        <a:lstStyle/>
        <a:p>
          <a:endParaRPr lang="en-US"/>
        </a:p>
      </dgm:t>
    </dgm:pt>
    <dgm:pt modelId="{FE913E38-1ADC-4832-93F3-E3D7242FD5D3}">
      <dgm:prSet/>
      <dgm:spPr/>
      <dgm:t>
        <a:bodyPr/>
        <a:lstStyle/>
        <a:p>
          <a:r>
            <a:rPr lang="en-US"/>
            <a:t>Understanding customer behavior and preferences.</a:t>
          </a:r>
        </a:p>
      </dgm:t>
    </dgm:pt>
    <dgm:pt modelId="{AE7B5CCC-A15D-497E-9136-81A63A6AF940}" type="parTrans" cxnId="{90314200-7544-45A9-A782-36BD19E55998}">
      <dgm:prSet/>
      <dgm:spPr/>
      <dgm:t>
        <a:bodyPr/>
        <a:lstStyle/>
        <a:p>
          <a:endParaRPr lang="en-US"/>
        </a:p>
      </dgm:t>
    </dgm:pt>
    <dgm:pt modelId="{F7433AB5-3EBC-46EA-B0ED-72F1F554CD73}" type="sibTrans" cxnId="{90314200-7544-45A9-A782-36BD19E55998}">
      <dgm:prSet/>
      <dgm:spPr/>
      <dgm:t>
        <a:bodyPr/>
        <a:lstStyle/>
        <a:p>
          <a:endParaRPr lang="en-US"/>
        </a:p>
      </dgm:t>
    </dgm:pt>
    <dgm:pt modelId="{50AC7226-6441-443F-A77F-2BEFC3B3B708}">
      <dgm:prSet/>
      <dgm:spPr/>
      <dgm:t>
        <a:bodyPr/>
        <a:lstStyle/>
        <a:p>
          <a:r>
            <a:rPr lang="en-US"/>
            <a:t>Generating insights to support business decisions.</a:t>
          </a:r>
        </a:p>
      </dgm:t>
    </dgm:pt>
    <dgm:pt modelId="{F9EA36A1-DE0F-45FF-913E-28427010BBB6}" type="parTrans" cxnId="{89AAA5DC-EC5C-42CF-8BC5-DA20400BB9FD}">
      <dgm:prSet/>
      <dgm:spPr/>
      <dgm:t>
        <a:bodyPr/>
        <a:lstStyle/>
        <a:p>
          <a:endParaRPr lang="en-US"/>
        </a:p>
      </dgm:t>
    </dgm:pt>
    <dgm:pt modelId="{5BBD4268-E0EF-419C-8836-83E4014A3960}" type="sibTrans" cxnId="{89AAA5DC-EC5C-42CF-8BC5-DA20400BB9FD}">
      <dgm:prSet/>
      <dgm:spPr/>
      <dgm:t>
        <a:bodyPr/>
        <a:lstStyle/>
        <a:p>
          <a:endParaRPr lang="en-US"/>
        </a:p>
      </dgm:t>
    </dgm:pt>
    <dgm:pt modelId="{688DB855-9FD1-47AD-96D0-22488D6F9E00}">
      <dgm:prSet/>
      <dgm:spPr/>
      <dgm:t>
        <a:bodyPr/>
        <a:lstStyle/>
        <a:p>
          <a:r>
            <a:rPr lang="en-US"/>
            <a:t>Currently, many small startups rely on spreadsheets or manual tracking, leading to errors, delays, and lost sales.</a:t>
          </a:r>
        </a:p>
      </dgm:t>
    </dgm:pt>
    <dgm:pt modelId="{43B8448B-57E4-4C6F-86E9-B655E9056796}" type="parTrans" cxnId="{2DB77D36-05C5-418D-AE52-9A10BDA70C97}">
      <dgm:prSet/>
      <dgm:spPr/>
      <dgm:t>
        <a:bodyPr/>
        <a:lstStyle/>
        <a:p>
          <a:endParaRPr lang="en-US"/>
        </a:p>
      </dgm:t>
    </dgm:pt>
    <dgm:pt modelId="{305F0FBE-8965-46CC-A2C0-FDBFBD54FD5C}" type="sibTrans" cxnId="{2DB77D36-05C5-418D-AE52-9A10BDA70C97}">
      <dgm:prSet/>
      <dgm:spPr/>
      <dgm:t>
        <a:bodyPr/>
        <a:lstStyle/>
        <a:p>
          <a:endParaRPr lang="en-US"/>
        </a:p>
      </dgm:t>
    </dgm:pt>
    <dgm:pt modelId="{A7509226-7633-4353-9141-EE59FB3F8743}" type="pres">
      <dgm:prSet presAssocID="{22312847-AC3A-4E9D-BF24-8D52167696B4}" presName="Name0" presStyleCnt="0">
        <dgm:presLayoutVars>
          <dgm:dir/>
          <dgm:animLvl val="lvl"/>
          <dgm:resizeHandles val="exact"/>
        </dgm:presLayoutVars>
      </dgm:prSet>
      <dgm:spPr/>
    </dgm:pt>
    <dgm:pt modelId="{919D7602-A6AD-404D-9BD8-FC17C16147BB}" type="pres">
      <dgm:prSet presAssocID="{688DB855-9FD1-47AD-96D0-22488D6F9E00}" presName="boxAndChildren" presStyleCnt="0"/>
      <dgm:spPr/>
    </dgm:pt>
    <dgm:pt modelId="{9A8F3317-DB86-4D45-B217-7E530C74AA02}" type="pres">
      <dgm:prSet presAssocID="{688DB855-9FD1-47AD-96D0-22488D6F9E00}" presName="parentTextBox" presStyleLbl="node1" presStyleIdx="0" presStyleCnt="2"/>
      <dgm:spPr/>
    </dgm:pt>
    <dgm:pt modelId="{088294E3-EA74-4DA0-A37F-CACBBB6FCCCD}" type="pres">
      <dgm:prSet presAssocID="{C50360C1-AA25-4EAA-9D41-F1B3E08ECBE6}" presName="sp" presStyleCnt="0"/>
      <dgm:spPr/>
    </dgm:pt>
    <dgm:pt modelId="{8F036C8F-32EE-4A9F-ACFA-C3A30A7C8808}" type="pres">
      <dgm:prSet presAssocID="{C0BF6498-EBA6-4437-A498-F7629C617CE3}" presName="arrowAndChildren" presStyleCnt="0"/>
      <dgm:spPr/>
    </dgm:pt>
    <dgm:pt modelId="{1067565F-E30E-4550-9AD2-C729A8FAADFC}" type="pres">
      <dgm:prSet presAssocID="{C0BF6498-EBA6-4437-A498-F7629C617CE3}" presName="parentTextArrow" presStyleLbl="node1" presStyleIdx="0" presStyleCnt="2"/>
      <dgm:spPr/>
    </dgm:pt>
    <dgm:pt modelId="{B8B1966D-3CCE-40B9-95FA-4F7AEE355EB7}" type="pres">
      <dgm:prSet presAssocID="{C0BF6498-EBA6-4437-A498-F7629C617CE3}" presName="arrow" presStyleLbl="node1" presStyleIdx="1" presStyleCnt="2"/>
      <dgm:spPr/>
    </dgm:pt>
    <dgm:pt modelId="{2B4A5595-E753-4881-B097-E20DAE75F676}" type="pres">
      <dgm:prSet presAssocID="{C0BF6498-EBA6-4437-A498-F7629C617CE3}" presName="descendantArrow" presStyleCnt="0"/>
      <dgm:spPr/>
    </dgm:pt>
    <dgm:pt modelId="{5B06C255-1AEE-450B-8D56-8934E71A5F6C}" type="pres">
      <dgm:prSet presAssocID="{6E018ECD-026E-481D-8B01-6FAE97AE881F}" presName="childTextArrow" presStyleLbl="fgAccFollowNode1" presStyleIdx="0" presStyleCnt="4">
        <dgm:presLayoutVars>
          <dgm:bulletEnabled val="1"/>
        </dgm:presLayoutVars>
      </dgm:prSet>
      <dgm:spPr/>
    </dgm:pt>
    <dgm:pt modelId="{FBFCFA88-D36C-4D16-BD06-08C7D2CE639C}" type="pres">
      <dgm:prSet presAssocID="{F925BFB6-161E-4642-A695-3C66E6B11277}" presName="childTextArrow" presStyleLbl="fgAccFollowNode1" presStyleIdx="1" presStyleCnt="4">
        <dgm:presLayoutVars>
          <dgm:bulletEnabled val="1"/>
        </dgm:presLayoutVars>
      </dgm:prSet>
      <dgm:spPr/>
    </dgm:pt>
    <dgm:pt modelId="{06E4F460-7BC1-4294-904A-55F54A062800}" type="pres">
      <dgm:prSet presAssocID="{FE913E38-1ADC-4832-93F3-E3D7242FD5D3}" presName="childTextArrow" presStyleLbl="fgAccFollowNode1" presStyleIdx="2" presStyleCnt="4">
        <dgm:presLayoutVars>
          <dgm:bulletEnabled val="1"/>
        </dgm:presLayoutVars>
      </dgm:prSet>
      <dgm:spPr/>
    </dgm:pt>
    <dgm:pt modelId="{CB3AB0D9-42CB-4FCB-BE71-16EB9AD1677D}" type="pres">
      <dgm:prSet presAssocID="{50AC7226-6441-443F-A77F-2BEFC3B3B708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90314200-7544-45A9-A782-36BD19E55998}" srcId="{C0BF6498-EBA6-4437-A498-F7629C617CE3}" destId="{FE913E38-1ADC-4832-93F3-E3D7242FD5D3}" srcOrd="2" destOrd="0" parTransId="{AE7B5CCC-A15D-497E-9136-81A63A6AF940}" sibTransId="{F7433AB5-3EBC-46EA-B0ED-72F1F554CD73}"/>
    <dgm:cxn modelId="{16EDEA0C-E75B-4F0B-8CA7-0C98A0FA53C5}" type="presOf" srcId="{6E018ECD-026E-481D-8B01-6FAE97AE881F}" destId="{5B06C255-1AEE-450B-8D56-8934E71A5F6C}" srcOrd="0" destOrd="0" presId="urn:microsoft.com/office/officeart/2005/8/layout/process4"/>
    <dgm:cxn modelId="{B1CB791D-68E8-4678-9B44-5DE901A882D1}" type="presOf" srcId="{C0BF6498-EBA6-4437-A498-F7629C617CE3}" destId="{B8B1966D-3CCE-40B9-95FA-4F7AEE355EB7}" srcOrd="1" destOrd="0" presId="urn:microsoft.com/office/officeart/2005/8/layout/process4"/>
    <dgm:cxn modelId="{6041CB22-FE9A-48E3-9100-1553A0DB6517}" srcId="{C0BF6498-EBA6-4437-A498-F7629C617CE3}" destId="{F925BFB6-161E-4642-A695-3C66E6B11277}" srcOrd="1" destOrd="0" parTransId="{56BC05FB-4EFD-4273-A415-F6A808433436}" sibTransId="{70A1A833-7A46-4C44-B93B-2A30824629AF}"/>
    <dgm:cxn modelId="{2DB77D36-05C5-418D-AE52-9A10BDA70C97}" srcId="{22312847-AC3A-4E9D-BF24-8D52167696B4}" destId="{688DB855-9FD1-47AD-96D0-22488D6F9E00}" srcOrd="1" destOrd="0" parTransId="{43B8448B-57E4-4C6F-86E9-B655E9056796}" sibTransId="{305F0FBE-8965-46CC-A2C0-FDBFBD54FD5C}"/>
    <dgm:cxn modelId="{252F6744-5F74-43FE-9C1B-DCD237A1238C}" type="presOf" srcId="{C0BF6498-EBA6-4437-A498-F7629C617CE3}" destId="{1067565F-E30E-4550-9AD2-C729A8FAADFC}" srcOrd="0" destOrd="0" presId="urn:microsoft.com/office/officeart/2005/8/layout/process4"/>
    <dgm:cxn modelId="{4F051668-13F0-403D-8CE0-0801C4A37320}" type="presOf" srcId="{22312847-AC3A-4E9D-BF24-8D52167696B4}" destId="{A7509226-7633-4353-9141-EE59FB3F8743}" srcOrd="0" destOrd="0" presId="urn:microsoft.com/office/officeart/2005/8/layout/process4"/>
    <dgm:cxn modelId="{8848956A-7F12-4F8C-B349-93933A3EF1E8}" type="presOf" srcId="{50AC7226-6441-443F-A77F-2BEFC3B3B708}" destId="{CB3AB0D9-42CB-4FCB-BE71-16EB9AD1677D}" srcOrd="0" destOrd="0" presId="urn:microsoft.com/office/officeart/2005/8/layout/process4"/>
    <dgm:cxn modelId="{972B4E8B-2526-4610-BD65-274989A25486}" type="presOf" srcId="{688DB855-9FD1-47AD-96D0-22488D6F9E00}" destId="{9A8F3317-DB86-4D45-B217-7E530C74AA02}" srcOrd="0" destOrd="0" presId="urn:microsoft.com/office/officeart/2005/8/layout/process4"/>
    <dgm:cxn modelId="{AE7BDDCC-0737-495B-9F49-9A6DFFE951BE}" type="presOf" srcId="{FE913E38-1ADC-4832-93F3-E3D7242FD5D3}" destId="{06E4F460-7BC1-4294-904A-55F54A062800}" srcOrd="0" destOrd="0" presId="urn:microsoft.com/office/officeart/2005/8/layout/process4"/>
    <dgm:cxn modelId="{863E21D9-2468-49E9-B113-AB1FF25FCC49}" type="presOf" srcId="{F925BFB6-161E-4642-A695-3C66E6B11277}" destId="{FBFCFA88-D36C-4D16-BD06-08C7D2CE639C}" srcOrd="0" destOrd="0" presId="urn:microsoft.com/office/officeart/2005/8/layout/process4"/>
    <dgm:cxn modelId="{89AAA5DC-EC5C-42CF-8BC5-DA20400BB9FD}" srcId="{C0BF6498-EBA6-4437-A498-F7629C617CE3}" destId="{50AC7226-6441-443F-A77F-2BEFC3B3B708}" srcOrd="3" destOrd="0" parTransId="{F9EA36A1-DE0F-45FF-913E-28427010BBB6}" sibTransId="{5BBD4268-E0EF-419C-8836-83E4014A3960}"/>
    <dgm:cxn modelId="{8AC2DCE1-328B-4C84-B834-E906273F8607}" srcId="{C0BF6498-EBA6-4437-A498-F7629C617CE3}" destId="{6E018ECD-026E-481D-8B01-6FAE97AE881F}" srcOrd="0" destOrd="0" parTransId="{121D140A-558C-450D-9C0A-4E044ED790F9}" sibTransId="{D317B663-39F2-4E92-8D5E-55FBA882A5A9}"/>
    <dgm:cxn modelId="{258CF0ED-0CE6-4BAA-A0E1-AF9D974ECA61}" srcId="{22312847-AC3A-4E9D-BF24-8D52167696B4}" destId="{C0BF6498-EBA6-4437-A498-F7629C617CE3}" srcOrd="0" destOrd="0" parTransId="{8CEFB895-4100-421D-90A6-3948054099C2}" sibTransId="{C50360C1-AA25-4EAA-9D41-F1B3E08ECBE6}"/>
    <dgm:cxn modelId="{36F8B3BC-C2C5-4D84-9BD5-CE117D8EE671}" type="presParOf" srcId="{A7509226-7633-4353-9141-EE59FB3F8743}" destId="{919D7602-A6AD-404D-9BD8-FC17C16147BB}" srcOrd="0" destOrd="0" presId="urn:microsoft.com/office/officeart/2005/8/layout/process4"/>
    <dgm:cxn modelId="{DA8544DB-8197-47A8-B1BE-8870C1B474B0}" type="presParOf" srcId="{919D7602-A6AD-404D-9BD8-FC17C16147BB}" destId="{9A8F3317-DB86-4D45-B217-7E530C74AA02}" srcOrd="0" destOrd="0" presId="urn:microsoft.com/office/officeart/2005/8/layout/process4"/>
    <dgm:cxn modelId="{4413FBD6-6D48-436D-B02A-907C440CB588}" type="presParOf" srcId="{A7509226-7633-4353-9141-EE59FB3F8743}" destId="{088294E3-EA74-4DA0-A37F-CACBBB6FCCCD}" srcOrd="1" destOrd="0" presId="urn:microsoft.com/office/officeart/2005/8/layout/process4"/>
    <dgm:cxn modelId="{9172B606-0F7A-4F28-9ACE-05BE3EA8B95E}" type="presParOf" srcId="{A7509226-7633-4353-9141-EE59FB3F8743}" destId="{8F036C8F-32EE-4A9F-ACFA-C3A30A7C8808}" srcOrd="2" destOrd="0" presId="urn:microsoft.com/office/officeart/2005/8/layout/process4"/>
    <dgm:cxn modelId="{46B7C93D-EA4C-475E-86C7-858CEBF1DF72}" type="presParOf" srcId="{8F036C8F-32EE-4A9F-ACFA-C3A30A7C8808}" destId="{1067565F-E30E-4550-9AD2-C729A8FAADFC}" srcOrd="0" destOrd="0" presId="urn:microsoft.com/office/officeart/2005/8/layout/process4"/>
    <dgm:cxn modelId="{EE9E31EA-0B29-4A8F-9758-883A25D4372A}" type="presParOf" srcId="{8F036C8F-32EE-4A9F-ACFA-C3A30A7C8808}" destId="{B8B1966D-3CCE-40B9-95FA-4F7AEE355EB7}" srcOrd="1" destOrd="0" presId="urn:microsoft.com/office/officeart/2005/8/layout/process4"/>
    <dgm:cxn modelId="{9952A8AF-1E5D-4C17-AF44-B683292D6860}" type="presParOf" srcId="{8F036C8F-32EE-4A9F-ACFA-C3A30A7C8808}" destId="{2B4A5595-E753-4881-B097-E20DAE75F676}" srcOrd="2" destOrd="0" presId="urn:microsoft.com/office/officeart/2005/8/layout/process4"/>
    <dgm:cxn modelId="{A2954368-805B-4087-AF62-A57163B9680E}" type="presParOf" srcId="{2B4A5595-E753-4881-B097-E20DAE75F676}" destId="{5B06C255-1AEE-450B-8D56-8934E71A5F6C}" srcOrd="0" destOrd="0" presId="urn:microsoft.com/office/officeart/2005/8/layout/process4"/>
    <dgm:cxn modelId="{CD5992AB-550F-472A-866D-5F9AFCF24DC4}" type="presParOf" srcId="{2B4A5595-E753-4881-B097-E20DAE75F676}" destId="{FBFCFA88-D36C-4D16-BD06-08C7D2CE639C}" srcOrd="1" destOrd="0" presId="urn:microsoft.com/office/officeart/2005/8/layout/process4"/>
    <dgm:cxn modelId="{062540DB-6C56-4A32-8CAD-6887A6DAB1A1}" type="presParOf" srcId="{2B4A5595-E753-4881-B097-E20DAE75F676}" destId="{06E4F460-7BC1-4294-904A-55F54A062800}" srcOrd="2" destOrd="0" presId="urn:microsoft.com/office/officeart/2005/8/layout/process4"/>
    <dgm:cxn modelId="{5754228A-5F39-4FC9-8C2F-9DE5D25B9DFA}" type="presParOf" srcId="{2B4A5595-E753-4881-B097-E20DAE75F676}" destId="{CB3AB0D9-42CB-4FCB-BE71-16EB9AD1677D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F41EAF-C1C3-40DD-9FF8-FFBBB97375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45DE13D-D0C6-4A9D-BE1E-CF398AB349AD}">
      <dgm:prSet/>
      <dgm:spPr/>
      <dgm:t>
        <a:bodyPr/>
        <a:lstStyle/>
        <a:p>
          <a:r>
            <a:rPr lang="en-US"/>
            <a:t>Handle different Data sources (CSV vs JSON vs API):</a:t>
          </a:r>
        </a:p>
      </dgm:t>
    </dgm:pt>
    <dgm:pt modelId="{5113C1E9-47A9-4918-967B-D3C8187CA39E}" type="parTrans" cxnId="{5BC61F91-9342-491C-B652-0820055EE645}">
      <dgm:prSet/>
      <dgm:spPr/>
      <dgm:t>
        <a:bodyPr/>
        <a:lstStyle/>
        <a:p>
          <a:endParaRPr lang="en-US"/>
        </a:p>
      </dgm:t>
    </dgm:pt>
    <dgm:pt modelId="{4565E92F-915F-47BF-BFAB-1DBD8B8AD8D8}" type="sibTrans" cxnId="{5BC61F91-9342-491C-B652-0820055EE645}">
      <dgm:prSet/>
      <dgm:spPr/>
      <dgm:t>
        <a:bodyPr/>
        <a:lstStyle/>
        <a:p>
          <a:endParaRPr lang="en-US"/>
        </a:p>
      </dgm:t>
    </dgm:pt>
    <dgm:pt modelId="{2A745478-6D4D-49DB-96E3-DCC49F3EA62F}">
      <dgm:prSet/>
      <dgm:spPr/>
      <dgm:t>
        <a:bodyPr/>
        <a:lstStyle/>
        <a:p>
          <a:r>
            <a:rPr lang="en-US"/>
            <a:t>Integration Complexity</a:t>
          </a:r>
        </a:p>
      </dgm:t>
    </dgm:pt>
    <dgm:pt modelId="{D0C4F97D-19D4-46F2-B1AF-356218284A24}" type="parTrans" cxnId="{A198640F-928A-4229-8707-F0B4D2560D2F}">
      <dgm:prSet/>
      <dgm:spPr/>
      <dgm:t>
        <a:bodyPr/>
        <a:lstStyle/>
        <a:p>
          <a:endParaRPr lang="en-US"/>
        </a:p>
      </dgm:t>
    </dgm:pt>
    <dgm:pt modelId="{9DDF3647-63BC-4093-8BAA-0C45C3F7C0E7}" type="sibTrans" cxnId="{A198640F-928A-4229-8707-F0B4D2560D2F}">
      <dgm:prSet/>
      <dgm:spPr/>
      <dgm:t>
        <a:bodyPr/>
        <a:lstStyle/>
        <a:p>
          <a:endParaRPr lang="en-US"/>
        </a:p>
      </dgm:t>
    </dgm:pt>
    <dgm:pt modelId="{6F6BBDBC-F568-44F1-A701-96986E0E11A2}">
      <dgm:prSet/>
      <dgm:spPr/>
      <dgm:t>
        <a:bodyPr/>
        <a:lstStyle/>
        <a:p>
          <a:r>
            <a:rPr lang="en-US"/>
            <a:t>Time Constraints</a:t>
          </a:r>
        </a:p>
      </dgm:t>
    </dgm:pt>
    <dgm:pt modelId="{A1902A8D-B8EA-4B8B-8385-2AEF9545CDE2}" type="parTrans" cxnId="{AF531FD2-375F-4A5B-9A16-86E511F4D77D}">
      <dgm:prSet/>
      <dgm:spPr/>
      <dgm:t>
        <a:bodyPr/>
        <a:lstStyle/>
        <a:p>
          <a:endParaRPr lang="en-US"/>
        </a:p>
      </dgm:t>
    </dgm:pt>
    <dgm:pt modelId="{15F19516-B1B1-4E5D-A3FE-99486DDA9E4B}" type="sibTrans" cxnId="{AF531FD2-375F-4A5B-9A16-86E511F4D77D}">
      <dgm:prSet/>
      <dgm:spPr/>
      <dgm:t>
        <a:bodyPr/>
        <a:lstStyle/>
        <a:p>
          <a:endParaRPr lang="en-US"/>
        </a:p>
      </dgm:t>
    </dgm:pt>
    <dgm:pt modelId="{CB9A2651-0800-40D7-88A6-B43C9BF21756}" type="pres">
      <dgm:prSet presAssocID="{37F41EAF-C1C3-40DD-9FF8-FFBBB97375DC}" presName="root" presStyleCnt="0">
        <dgm:presLayoutVars>
          <dgm:dir/>
          <dgm:resizeHandles val="exact"/>
        </dgm:presLayoutVars>
      </dgm:prSet>
      <dgm:spPr/>
    </dgm:pt>
    <dgm:pt modelId="{00856982-41D7-4C23-BC1B-773363A03032}" type="pres">
      <dgm:prSet presAssocID="{945DE13D-D0C6-4A9D-BE1E-CF398AB349AD}" presName="compNode" presStyleCnt="0"/>
      <dgm:spPr/>
    </dgm:pt>
    <dgm:pt modelId="{3B834C85-2910-492D-9257-3EF5EC22DB02}" type="pres">
      <dgm:prSet presAssocID="{945DE13D-D0C6-4A9D-BE1E-CF398AB349AD}" presName="bgRect" presStyleLbl="bgShp" presStyleIdx="0" presStyleCnt="3"/>
      <dgm:spPr/>
    </dgm:pt>
    <dgm:pt modelId="{3CD30221-9068-4C8B-AD0F-D37616A09F33}" type="pres">
      <dgm:prSet presAssocID="{945DE13D-D0C6-4A9D-BE1E-CF398AB349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BBBAD3-368E-4477-AAF5-AA8D2607E53B}" type="pres">
      <dgm:prSet presAssocID="{945DE13D-D0C6-4A9D-BE1E-CF398AB349AD}" presName="spaceRect" presStyleCnt="0"/>
      <dgm:spPr/>
    </dgm:pt>
    <dgm:pt modelId="{C1475090-4AE7-446C-AE51-D852CE1ED9D1}" type="pres">
      <dgm:prSet presAssocID="{945DE13D-D0C6-4A9D-BE1E-CF398AB349AD}" presName="parTx" presStyleLbl="revTx" presStyleIdx="0" presStyleCnt="3">
        <dgm:presLayoutVars>
          <dgm:chMax val="0"/>
          <dgm:chPref val="0"/>
        </dgm:presLayoutVars>
      </dgm:prSet>
      <dgm:spPr/>
    </dgm:pt>
    <dgm:pt modelId="{4BE47B7D-6408-4A5D-9E6E-B3FC6717BB27}" type="pres">
      <dgm:prSet presAssocID="{4565E92F-915F-47BF-BFAB-1DBD8B8AD8D8}" presName="sibTrans" presStyleCnt="0"/>
      <dgm:spPr/>
    </dgm:pt>
    <dgm:pt modelId="{5F436473-7692-4CD1-AFAA-69696B7FE8BF}" type="pres">
      <dgm:prSet presAssocID="{2A745478-6D4D-49DB-96E3-DCC49F3EA62F}" presName="compNode" presStyleCnt="0"/>
      <dgm:spPr/>
    </dgm:pt>
    <dgm:pt modelId="{CA2E9430-12D8-4D23-89C9-157949AC80E8}" type="pres">
      <dgm:prSet presAssocID="{2A745478-6D4D-49DB-96E3-DCC49F3EA62F}" presName="bgRect" presStyleLbl="bgShp" presStyleIdx="1" presStyleCnt="3"/>
      <dgm:spPr/>
    </dgm:pt>
    <dgm:pt modelId="{5438E06F-8F38-4688-99DC-01F4736A78A0}" type="pres">
      <dgm:prSet presAssocID="{2A745478-6D4D-49DB-96E3-DCC49F3EA6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D3D4738-A5AF-4FB6-9359-C2BABB9ADA2F}" type="pres">
      <dgm:prSet presAssocID="{2A745478-6D4D-49DB-96E3-DCC49F3EA62F}" presName="spaceRect" presStyleCnt="0"/>
      <dgm:spPr/>
    </dgm:pt>
    <dgm:pt modelId="{7DA80EE1-008B-4B90-A2B6-7A5285FB6E5B}" type="pres">
      <dgm:prSet presAssocID="{2A745478-6D4D-49DB-96E3-DCC49F3EA62F}" presName="parTx" presStyleLbl="revTx" presStyleIdx="1" presStyleCnt="3">
        <dgm:presLayoutVars>
          <dgm:chMax val="0"/>
          <dgm:chPref val="0"/>
        </dgm:presLayoutVars>
      </dgm:prSet>
      <dgm:spPr/>
    </dgm:pt>
    <dgm:pt modelId="{ADB59E2A-727F-4568-AC94-35603DD8BBEB}" type="pres">
      <dgm:prSet presAssocID="{9DDF3647-63BC-4093-8BAA-0C45C3F7C0E7}" presName="sibTrans" presStyleCnt="0"/>
      <dgm:spPr/>
    </dgm:pt>
    <dgm:pt modelId="{BFB13661-E1AA-43D0-9AE1-8BF99E582254}" type="pres">
      <dgm:prSet presAssocID="{6F6BBDBC-F568-44F1-A701-96986E0E11A2}" presName="compNode" presStyleCnt="0"/>
      <dgm:spPr/>
    </dgm:pt>
    <dgm:pt modelId="{F6537F5F-43E7-428D-A4DF-6761938209FD}" type="pres">
      <dgm:prSet presAssocID="{6F6BBDBC-F568-44F1-A701-96986E0E11A2}" presName="bgRect" presStyleLbl="bgShp" presStyleIdx="2" presStyleCnt="3"/>
      <dgm:spPr/>
    </dgm:pt>
    <dgm:pt modelId="{F23ADCD5-4A04-4920-B2BC-2C3A6EC59A14}" type="pres">
      <dgm:prSet presAssocID="{6F6BBDBC-F568-44F1-A701-96986E0E11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2B54686-1B3E-401C-A81E-A7A69220F706}" type="pres">
      <dgm:prSet presAssocID="{6F6BBDBC-F568-44F1-A701-96986E0E11A2}" presName="spaceRect" presStyleCnt="0"/>
      <dgm:spPr/>
    </dgm:pt>
    <dgm:pt modelId="{288B3D3C-E9DC-40F6-9A51-EE30113B2161}" type="pres">
      <dgm:prSet presAssocID="{6F6BBDBC-F568-44F1-A701-96986E0E11A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198640F-928A-4229-8707-F0B4D2560D2F}" srcId="{37F41EAF-C1C3-40DD-9FF8-FFBBB97375DC}" destId="{2A745478-6D4D-49DB-96E3-DCC49F3EA62F}" srcOrd="1" destOrd="0" parTransId="{D0C4F97D-19D4-46F2-B1AF-356218284A24}" sibTransId="{9DDF3647-63BC-4093-8BAA-0C45C3F7C0E7}"/>
    <dgm:cxn modelId="{DCF1850F-4A5B-4E85-A8C1-05AEE05B237F}" type="presOf" srcId="{37F41EAF-C1C3-40DD-9FF8-FFBBB97375DC}" destId="{CB9A2651-0800-40D7-88A6-B43C9BF21756}" srcOrd="0" destOrd="0" presId="urn:microsoft.com/office/officeart/2018/2/layout/IconVerticalSolidList"/>
    <dgm:cxn modelId="{FCC52E6B-E295-430A-BA66-50E62391ABEB}" type="presOf" srcId="{2A745478-6D4D-49DB-96E3-DCC49F3EA62F}" destId="{7DA80EE1-008B-4B90-A2B6-7A5285FB6E5B}" srcOrd="0" destOrd="0" presId="urn:microsoft.com/office/officeart/2018/2/layout/IconVerticalSolidList"/>
    <dgm:cxn modelId="{4935917E-284D-4D39-946F-89E7279F8728}" type="presOf" srcId="{6F6BBDBC-F568-44F1-A701-96986E0E11A2}" destId="{288B3D3C-E9DC-40F6-9A51-EE30113B2161}" srcOrd="0" destOrd="0" presId="urn:microsoft.com/office/officeart/2018/2/layout/IconVerticalSolidList"/>
    <dgm:cxn modelId="{5BC61F91-9342-491C-B652-0820055EE645}" srcId="{37F41EAF-C1C3-40DD-9FF8-FFBBB97375DC}" destId="{945DE13D-D0C6-4A9D-BE1E-CF398AB349AD}" srcOrd="0" destOrd="0" parTransId="{5113C1E9-47A9-4918-967B-D3C8187CA39E}" sibTransId="{4565E92F-915F-47BF-BFAB-1DBD8B8AD8D8}"/>
    <dgm:cxn modelId="{6691B6C9-B035-43F4-9CBA-201732084A51}" type="presOf" srcId="{945DE13D-D0C6-4A9D-BE1E-CF398AB349AD}" destId="{C1475090-4AE7-446C-AE51-D852CE1ED9D1}" srcOrd="0" destOrd="0" presId="urn:microsoft.com/office/officeart/2018/2/layout/IconVerticalSolidList"/>
    <dgm:cxn modelId="{AF531FD2-375F-4A5B-9A16-86E511F4D77D}" srcId="{37F41EAF-C1C3-40DD-9FF8-FFBBB97375DC}" destId="{6F6BBDBC-F568-44F1-A701-96986E0E11A2}" srcOrd="2" destOrd="0" parTransId="{A1902A8D-B8EA-4B8B-8385-2AEF9545CDE2}" sibTransId="{15F19516-B1B1-4E5D-A3FE-99486DDA9E4B}"/>
    <dgm:cxn modelId="{C56E0CAE-E132-4331-8A1C-ED032AC81EFD}" type="presParOf" srcId="{CB9A2651-0800-40D7-88A6-B43C9BF21756}" destId="{00856982-41D7-4C23-BC1B-773363A03032}" srcOrd="0" destOrd="0" presId="urn:microsoft.com/office/officeart/2018/2/layout/IconVerticalSolidList"/>
    <dgm:cxn modelId="{39F56D58-7D3F-488F-956B-D268FDCD3206}" type="presParOf" srcId="{00856982-41D7-4C23-BC1B-773363A03032}" destId="{3B834C85-2910-492D-9257-3EF5EC22DB02}" srcOrd="0" destOrd="0" presId="urn:microsoft.com/office/officeart/2018/2/layout/IconVerticalSolidList"/>
    <dgm:cxn modelId="{E99A71F3-67C5-4BEE-AA28-4E050F3E54D8}" type="presParOf" srcId="{00856982-41D7-4C23-BC1B-773363A03032}" destId="{3CD30221-9068-4C8B-AD0F-D37616A09F33}" srcOrd="1" destOrd="0" presId="urn:microsoft.com/office/officeart/2018/2/layout/IconVerticalSolidList"/>
    <dgm:cxn modelId="{BE3A4FF2-039C-4850-9769-0B6C11EF8469}" type="presParOf" srcId="{00856982-41D7-4C23-BC1B-773363A03032}" destId="{8ABBBAD3-368E-4477-AAF5-AA8D2607E53B}" srcOrd="2" destOrd="0" presId="urn:microsoft.com/office/officeart/2018/2/layout/IconVerticalSolidList"/>
    <dgm:cxn modelId="{AB33CB56-F3BC-41DE-BE57-8D4B683EBF3A}" type="presParOf" srcId="{00856982-41D7-4C23-BC1B-773363A03032}" destId="{C1475090-4AE7-446C-AE51-D852CE1ED9D1}" srcOrd="3" destOrd="0" presId="urn:microsoft.com/office/officeart/2018/2/layout/IconVerticalSolidList"/>
    <dgm:cxn modelId="{DE370996-7035-4EF8-A0FA-F09198EF627E}" type="presParOf" srcId="{CB9A2651-0800-40D7-88A6-B43C9BF21756}" destId="{4BE47B7D-6408-4A5D-9E6E-B3FC6717BB27}" srcOrd="1" destOrd="0" presId="urn:microsoft.com/office/officeart/2018/2/layout/IconVerticalSolidList"/>
    <dgm:cxn modelId="{0E04BFDE-4DCF-464C-BD28-99AB56065D1F}" type="presParOf" srcId="{CB9A2651-0800-40D7-88A6-B43C9BF21756}" destId="{5F436473-7692-4CD1-AFAA-69696B7FE8BF}" srcOrd="2" destOrd="0" presId="urn:microsoft.com/office/officeart/2018/2/layout/IconVerticalSolidList"/>
    <dgm:cxn modelId="{D56386B7-EC67-4CA3-BD56-C753F80417E3}" type="presParOf" srcId="{5F436473-7692-4CD1-AFAA-69696B7FE8BF}" destId="{CA2E9430-12D8-4D23-89C9-157949AC80E8}" srcOrd="0" destOrd="0" presId="urn:microsoft.com/office/officeart/2018/2/layout/IconVerticalSolidList"/>
    <dgm:cxn modelId="{262082F7-A6EF-4E3A-9CF1-5A0825085E17}" type="presParOf" srcId="{5F436473-7692-4CD1-AFAA-69696B7FE8BF}" destId="{5438E06F-8F38-4688-99DC-01F4736A78A0}" srcOrd="1" destOrd="0" presId="urn:microsoft.com/office/officeart/2018/2/layout/IconVerticalSolidList"/>
    <dgm:cxn modelId="{707C6B19-734B-4862-B8DF-9BAADD925C62}" type="presParOf" srcId="{5F436473-7692-4CD1-AFAA-69696B7FE8BF}" destId="{4D3D4738-A5AF-4FB6-9359-C2BABB9ADA2F}" srcOrd="2" destOrd="0" presId="urn:microsoft.com/office/officeart/2018/2/layout/IconVerticalSolidList"/>
    <dgm:cxn modelId="{5AC1E194-15A3-44B5-98C0-B899162565AB}" type="presParOf" srcId="{5F436473-7692-4CD1-AFAA-69696B7FE8BF}" destId="{7DA80EE1-008B-4B90-A2B6-7A5285FB6E5B}" srcOrd="3" destOrd="0" presId="urn:microsoft.com/office/officeart/2018/2/layout/IconVerticalSolidList"/>
    <dgm:cxn modelId="{35A47693-7927-4FB6-97FF-25E38C79999E}" type="presParOf" srcId="{CB9A2651-0800-40D7-88A6-B43C9BF21756}" destId="{ADB59E2A-727F-4568-AC94-35603DD8BBEB}" srcOrd="3" destOrd="0" presId="urn:microsoft.com/office/officeart/2018/2/layout/IconVerticalSolidList"/>
    <dgm:cxn modelId="{66210803-3434-468D-99EC-7BACE90B949F}" type="presParOf" srcId="{CB9A2651-0800-40D7-88A6-B43C9BF21756}" destId="{BFB13661-E1AA-43D0-9AE1-8BF99E582254}" srcOrd="4" destOrd="0" presId="urn:microsoft.com/office/officeart/2018/2/layout/IconVerticalSolidList"/>
    <dgm:cxn modelId="{50042CF2-35B7-43FF-9BFC-F19ADAA3E05D}" type="presParOf" srcId="{BFB13661-E1AA-43D0-9AE1-8BF99E582254}" destId="{F6537F5F-43E7-428D-A4DF-6761938209FD}" srcOrd="0" destOrd="0" presId="urn:microsoft.com/office/officeart/2018/2/layout/IconVerticalSolidList"/>
    <dgm:cxn modelId="{1DFB6213-2DC4-47A5-9521-595EFC95BDF0}" type="presParOf" srcId="{BFB13661-E1AA-43D0-9AE1-8BF99E582254}" destId="{F23ADCD5-4A04-4920-B2BC-2C3A6EC59A14}" srcOrd="1" destOrd="0" presId="urn:microsoft.com/office/officeart/2018/2/layout/IconVerticalSolidList"/>
    <dgm:cxn modelId="{132640CE-FCE7-4600-BCF9-A7E56CFA4654}" type="presParOf" srcId="{BFB13661-E1AA-43D0-9AE1-8BF99E582254}" destId="{42B54686-1B3E-401C-A81E-A7A69220F706}" srcOrd="2" destOrd="0" presId="urn:microsoft.com/office/officeart/2018/2/layout/IconVerticalSolidList"/>
    <dgm:cxn modelId="{7A072C2B-ADAC-4F1A-B0DA-DCE1073E33D5}" type="presParOf" srcId="{BFB13661-E1AA-43D0-9AE1-8BF99E582254}" destId="{288B3D3C-E9DC-40F6-9A51-EE30113B216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F3317-DB86-4D45-B217-7E530C74AA02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Currently, many small startups rely on spreadsheets or manual tracking, leading to errors, delays, and lost sales.</a:t>
          </a:r>
        </a:p>
      </dsp:txBody>
      <dsp:txXfrm>
        <a:off x="0" y="3291729"/>
        <a:ext cx="6666833" cy="2159731"/>
      </dsp:txXfrm>
    </dsp:sp>
    <dsp:sp modelId="{B8B1966D-3CCE-40B9-95FA-4F7AEE355EB7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Manufacture-to-customer (M2C) startups aim to sell products directly from manufacturers to customers, bypassing middlemen. While this model reduces costs, it introduces challenges:</a:t>
          </a:r>
        </a:p>
      </dsp:txBody>
      <dsp:txXfrm rot="-10800000">
        <a:off x="0" y="2459"/>
        <a:ext cx="6666833" cy="1165904"/>
      </dsp:txXfrm>
    </dsp:sp>
    <dsp:sp modelId="{5B06C255-1AEE-450B-8D56-8934E71A5F6C}">
      <dsp:nvSpPr>
        <dsp:cNvPr id="0" name=""/>
        <dsp:cNvSpPr/>
      </dsp:nvSpPr>
      <dsp:spPr>
        <a:xfrm>
          <a:off x="0" y="1168364"/>
          <a:ext cx="1666708" cy="99317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Managing inventory and stock levels in real-Time.</a:t>
          </a:r>
        </a:p>
      </dsp:txBody>
      <dsp:txXfrm>
        <a:off x="0" y="1168364"/>
        <a:ext cx="1666708" cy="993178"/>
      </dsp:txXfrm>
    </dsp:sp>
    <dsp:sp modelId="{FBFCFA88-D36C-4D16-BD06-08C7D2CE639C}">
      <dsp:nvSpPr>
        <dsp:cNvPr id="0" name=""/>
        <dsp:cNvSpPr/>
      </dsp:nvSpPr>
      <dsp:spPr>
        <a:xfrm>
          <a:off x="1666708" y="1168364"/>
          <a:ext cx="1666708" cy="993178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Tracking orders and shipments efficiently.</a:t>
          </a:r>
        </a:p>
      </dsp:txBody>
      <dsp:txXfrm>
        <a:off x="1666708" y="1168364"/>
        <a:ext cx="1666708" cy="993178"/>
      </dsp:txXfrm>
    </dsp:sp>
    <dsp:sp modelId="{06E4F460-7BC1-4294-904A-55F54A062800}">
      <dsp:nvSpPr>
        <dsp:cNvPr id="0" name=""/>
        <dsp:cNvSpPr/>
      </dsp:nvSpPr>
      <dsp:spPr>
        <a:xfrm>
          <a:off x="3333416" y="1168364"/>
          <a:ext cx="1666708" cy="993178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Understanding customer behavior and preferences.</a:t>
          </a:r>
        </a:p>
      </dsp:txBody>
      <dsp:txXfrm>
        <a:off x="3333416" y="1168364"/>
        <a:ext cx="1666708" cy="993178"/>
      </dsp:txXfrm>
    </dsp:sp>
    <dsp:sp modelId="{CB3AB0D9-42CB-4FCB-BE71-16EB9AD1677D}">
      <dsp:nvSpPr>
        <dsp:cNvPr id="0" name=""/>
        <dsp:cNvSpPr/>
      </dsp:nvSpPr>
      <dsp:spPr>
        <a:xfrm>
          <a:off x="5000124" y="1168364"/>
          <a:ext cx="1666708" cy="99317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Generating insights to support business decisions.</a:t>
          </a:r>
        </a:p>
      </dsp:txBody>
      <dsp:txXfrm>
        <a:off x="5000124" y="1168364"/>
        <a:ext cx="1666708" cy="9931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34C85-2910-492D-9257-3EF5EC22DB02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30221-9068-4C8B-AD0F-D37616A09F33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75090-4AE7-446C-AE51-D852CE1ED9D1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Handle different Data sources (CSV vs JSON vs API):</a:t>
          </a:r>
        </a:p>
      </dsp:txBody>
      <dsp:txXfrm>
        <a:off x="1939533" y="717"/>
        <a:ext cx="4362067" cy="1679249"/>
      </dsp:txXfrm>
    </dsp:sp>
    <dsp:sp modelId="{CA2E9430-12D8-4D23-89C9-157949AC80E8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8E06F-8F38-4688-99DC-01F4736A78A0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80EE1-008B-4B90-A2B6-7A5285FB6E5B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Integration Complexity</a:t>
          </a:r>
        </a:p>
      </dsp:txBody>
      <dsp:txXfrm>
        <a:off x="1939533" y="2099779"/>
        <a:ext cx="4362067" cy="1679249"/>
      </dsp:txXfrm>
    </dsp:sp>
    <dsp:sp modelId="{F6537F5F-43E7-428D-A4DF-6761938209FD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ADCD5-4A04-4920-B2BC-2C3A6EC59A14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B3D3C-E9DC-40F6-9A51-EE30113B2161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Time Constraints</a:t>
          </a:r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B6A7B-6784-4214-92AC-83C7894CD23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57016-955C-42AD-9FDD-49CBB9C6F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9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Due to time limitation the step 5 will be implemented on the next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7016-955C-42AD-9FDD-49CBB9C6FF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58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there is not a real live e-commerce website, I am trying to  simulate customers and manufactures relative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7016-955C-42AD-9FDD-49CBB9C6FF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1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57016-955C-42AD-9FDD-49CBB9C6FF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8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5C58-E3FE-00BB-3C39-C79B60945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4E2F3-FE91-4846-4D4D-FBBCC60D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E6A62-609D-F712-3EEF-6AFE0829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A9C61-EBDA-2176-6B5E-9F9DA77E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3E83-6F74-EF6A-E5A4-BD20187B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4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5FD1-DF03-12E7-F452-B24871E6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5605C-358D-851E-5303-80C971642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BC13D-2224-A8FF-3D88-B4B1BE2E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7898-35F0-A470-61F8-E3D6F21C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CA902-B041-55D3-CB71-269C6477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7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FC3C-CAE4-D90C-A9E0-2A641066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33526-3A01-D54C-5A16-55E1C747C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4B821-DADC-7F14-8B1E-38ABC516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42748-79D1-0E5B-03CF-12A7EA55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CFDED-E203-28EE-3027-5C173704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4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E1B8-C22B-6BB7-08A0-9B64908F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3E34-5968-E3F2-4C4B-3FFA080EE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17A15-53AB-8485-304E-2A199CE79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A2FD1-4023-4ED5-524F-44F2CAF6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D55CD-4EF5-FB5B-6644-9865047A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D7446-64DE-E4CD-3004-BA26C828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3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52CD-7772-9FCB-3F9D-12C4230A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FF682-6E78-6155-08D0-FF89EE38A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EAD18-5E9D-44D1-ABDC-6B21B2FE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E53EA-5A43-84A6-E15E-DCB18C1F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DB701-F00A-AEEE-DFF9-D0F5B6697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6B856-CD64-B698-0B49-9160998E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41DE1-2194-0FDC-2687-A2653E72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DDE6F-938F-C514-52DE-D600A248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8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4F66-D05A-EB72-A104-5C7FB6C6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4D38-D69F-8E84-36BE-F030187C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B5AC2-5749-E67A-89F6-0DC2FB8C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A0FE9-2224-2997-B99A-38AAD716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43D7C-3953-DB39-DA79-F96EE2A5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27807-0681-46C1-8A79-BEFBFCDA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6E6A7-6DC7-91B3-CBAD-A5EAE5D0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4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0AD7-BB22-9B71-FFCB-BC1A257D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0BCA-F15B-CC77-613C-AAEF7ADD0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44A54-454F-A8DC-9223-6D0766809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77838-7BC1-4D82-C923-134BDA6D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CF027-D1D7-7417-4AD8-29552296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CEAEB-DBF9-9680-0826-6E835F3C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AA89-7ABB-6505-3641-A01F4783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489FD-35A0-E525-F707-673330408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C5608-4133-6BB1-450C-C1450454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C9659-18D3-8B75-FE8C-8F86DCE3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B9163-E3B6-86E2-1196-C649F39D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CDC1D-8D38-98AC-3DBB-2FD65C2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0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B07F-5ACF-FAEE-9AD2-23E605F5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2CD46-CA8C-429D-E3A8-AEFA411F6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961BF-5D1F-B12F-0EC9-6ED581D6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A251-29B0-3796-17BD-BAF5EF8E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32635-ACC0-269D-B2D1-1BB1A0FF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A7390-47E5-73B6-D6F0-7B457DCEF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2615A-5C65-45BC-FC0E-78A2464C5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D546-0298-7BDA-E812-8DB16612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5BED-5DE7-B8DE-AB6F-F756E678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257C9-9CC4-BFCC-EEAA-D1FBD277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9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EF539-1D54-AD0D-B666-D66EF7B8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BB335-7444-BC05-019F-AC89E5B2C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0369-C45F-2934-F17F-7DD8BF42F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2B2D-485B-43DA-8292-1225AC76751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8E805-C9B4-E47D-C113-D03D7C728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6FF08-1ABF-A353-DFD6-F9539AC3D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758B1-480B-46F2-82F7-653A7D6E7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3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CPIAUCS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02CD4-7322-1D16-D680-6C596DD1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Pipeline for a Manufacture-to-Customer Online Shopping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9211-DC16-17AA-1882-E7BBB0BAB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7165" y="2011203"/>
            <a:ext cx="7064830" cy="1417797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b="1" dirty="0"/>
              <a:t>Concept: </a:t>
            </a:r>
            <a:r>
              <a:rPr lang="en-US" sz="2000" dirty="0"/>
              <a:t>Manufacture-to-Consumer (M2C) Direct Shopping.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D11845-6461-1AF1-D523-210120129C98}"/>
              </a:ext>
            </a:extLst>
          </p:cNvPr>
          <p:cNvSpPr txBox="1">
            <a:spLocks/>
          </p:cNvSpPr>
          <p:nvPr/>
        </p:nvSpPr>
        <p:spPr>
          <a:xfrm>
            <a:off x="4778828" y="3429000"/>
            <a:ext cx="7239000" cy="170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2000" b="1" dirty="0"/>
              <a:t>Goal: </a:t>
            </a:r>
            <a:r>
              <a:rPr lang="en-US" sz="2000" dirty="0"/>
              <a:t>Building high-quality, processed data pipeline  to help entrepreneurship and startup make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304705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A26C2-C767-FC2E-A736-77DA172D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Background &amp; Problem Statement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5">
            <a:extLst>
              <a:ext uri="{FF2B5EF4-FFF2-40B4-BE49-F238E27FC236}">
                <a16:creationId xmlns:a16="http://schemas.microsoft.com/office/drawing/2014/main" id="{0DBDC552-A825-A4C8-F3CA-A411DDB0C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47143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865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83499-A6CF-D900-3816-C58F603A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8E0A9-62DE-D0BE-30F9-8D71D746F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The goal of this project is to </a:t>
            </a:r>
            <a:r>
              <a:rPr lang="en-US" sz="2000" b="1"/>
              <a:t>design and implement a data pipeline</a:t>
            </a:r>
            <a:r>
              <a:rPr lang="en-US" sz="2000"/>
              <a:t> that:</a:t>
            </a:r>
          </a:p>
          <a:p>
            <a:pPr marL="0" indent="0">
              <a:buNone/>
            </a:pPr>
            <a:endParaRPr lang="en-US" sz="2000"/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Ingests data</a:t>
            </a:r>
            <a:r>
              <a:rPr lang="en-US" sz="2000"/>
              <a:t> from multiple sources: customers, orders, products, and manufacturers.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Cleans, transforms, and enriches data</a:t>
            </a:r>
            <a:r>
              <a:rPr lang="en-US" sz="2000"/>
              <a:t> for analytics.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Stores data in a centralized database</a:t>
            </a:r>
            <a:r>
              <a:rPr lang="en-US" sz="2000"/>
              <a:t> for easy access.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Generates actionable insights</a:t>
            </a:r>
            <a:r>
              <a:rPr lang="en-US" sz="2000"/>
              <a:t> to help startups make data-driven decisions.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Simulates recommendations and alerts</a:t>
            </a:r>
            <a:r>
              <a:rPr lang="en-US" sz="2000"/>
              <a:t> for inventory and customer engagement.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89175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5A4498-654D-EBF6-0EA5-9E0A344A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Alignment with Data Engineering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F69F-51A0-20E7-3778-0179DE561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1" y="2308124"/>
            <a:ext cx="5025735" cy="367357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000" dirty="0"/>
          </a:p>
          <a:p>
            <a:endParaRPr lang="en-US" sz="2000"/>
          </a:p>
          <a:p>
            <a:endParaRPr lang="en-US" sz="2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60AF16-5310-18B6-F303-53C473891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415754"/>
              </p:ext>
            </p:extLst>
          </p:nvPr>
        </p:nvGraphicFramePr>
        <p:xfrm>
          <a:off x="1166296" y="1854746"/>
          <a:ext cx="9840094" cy="447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5460">
                  <a:extLst>
                    <a:ext uri="{9D8B030D-6E8A-4147-A177-3AD203B41FA5}">
                      <a16:colId xmlns:a16="http://schemas.microsoft.com/office/drawing/2014/main" val="1953755724"/>
                    </a:ext>
                  </a:extLst>
                </a:gridCol>
                <a:gridCol w="6924634">
                  <a:extLst>
                    <a:ext uri="{9D8B030D-6E8A-4147-A177-3AD203B41FA5}">
                      <a16:colId xmlns:a16="http://schemas.microsoft.com/office/drawing/2014/main" val="2563046215"/>
                    </a:ext>
                  </a:extLst>
                </a:gridCol>
              </a:tblGrid>
              <a:tr h="475873">
                <a:tc>
                  <a:txBody>
                    <a:bodyPr/>
                    <a:lstStyle/>
                    <a:p>
                      <a:r>
                        <a:rPr lang="en-US" sz="1400"/>
                        <a:t>Phase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Implementation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4109756116"/>
                  </a:ext>
                </a:extLst>
              </a:tr>
              <a:tr h="800333">
                <a:tc>
                  <a:txBody>
                    <a:bodyPr/>
                    <a:lstStyle/>
                    <a:p>
                      <a:r>
                        <a:rPr lang="en-US" sz="1400" dirty="0"/>
                        <a:t>Generation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Collecting simulated datasets (CSV/JSON) for customers, products, orders, and manufacturers.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2950653877"/>
                  </a:ext>
                </a:extLst>
              </a:tr>
              <a:tr h="800333">
                <a:tc>
                  <a:txBody>
                    <a:bodyPr/>
                    <a:lstStyle/>
                    <a:p>
                      <a:r>
                        <a:rPr lang="en-US" sz="1400"/>
                        <a:t>Data Ingestion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Loading data into staging using Python scripts and batch processing.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1811877502"/>
                  </a:ext>
                </a:extLst>
              </a:tr>
              <a:tr h="800333">
                <a:tc>
                  <a:txBody>
                    <a:bodyPr/>
                    <a:lstStyle/>
                    <a:p>
                      <a:r>
                        <a:rPr lang="en-US" sz="1400"/>
                        <a:t>Data Processing &amp; Transformation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Cleaning, merging, and calculating metrics; preparing data for storage and analytics.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3856338693"/>
                  </a:ext>
                </a:extLst>
              </a:tr>
              <a:tr h="800333">
                <a:tc>
                  <a:txBody>
                    <a:bodyPr/>
                    <a:lstStyle/>
                    <a:p>
                      <a:r>
                        <a:rPr lang="en-US" sz="1400"/>
                        <a:t>Data Storage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Designing relational database schema in PostgreSQL/SQLite.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1093713683"/>
                  </a:ext>
                </a:extLst>
              </a:tr>
              <a:tr h="800333">
                <a:tc>
                  <a:txBody>
                    <a:bodyPr/>
                    <a:lstStyle/>
                    <a:p>
                      <a:r>
                        <a:rPr lang="en-US" sz="1400"/>
                        <a:t>Data Analysis &amp; Visualization</a:t>
                      </a:r>
                    </a:p>
                  </a:txBody>
                  <a:tcPr marL="45966" marR="45966" marT="25282" marB="25282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Creating dashboards and reports</a:t>
                      </a:r>
                    </a:p>
                  </a:txBody>
                  <a:tcPr marL="45966" marR="45966" marT="25282" marB="25282"/>
                </a:tc>
                <a:extLst>
                  <a:ext uri="{0D108BD9-81ED-4DB2-BD59-A6C34878D82A}">
                    <a16:rowId xmlns:a16="http://schemas.microsoft.com/office/drawing/2014/main" val="419074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92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91302-F178-1876-F8C2-C8FD03E5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72CEB-CB1C-E057-4912-714FCDF9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Possible Data 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3F3885-8326-DFF1-AABC-DF35C8C31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460224"/>
              </p:ext>
            </p:extLst>
          </p:nvPr>
        </p:nvGraphicFramePr>
        <p:xfrm>
          <a:off x="432225" y="2280726"/>
          <a:ext cx="11327550" cy="382329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20033">
                  <a:extLst>
                    <a:ext uri="{9D8B030D-6E8A-4147-A177-3AD203B41FA5}">
                      <a16:colId xmlns:a16="http://schemas.microsoft.com/office/drawing/2014/main" val="953106932"/>
                    </a:ext>
                  </a:extLst>
                </a:gridCol>
                <a:gridCol w="4485659">
                  <a:extLst>
                    <a:ext uri="{9D8B030D-6E8A-4147-A177-3AD203B41FA5}">
                      <a16:colId xmlns:a16="http://schemas.microsoft.com/office/drawing/2014/main" val="3466725418"/>
                    </a:ext>
                  </a:extLst>
                </a:gridCol>
                <a:gridCol w="4321858">
                  <a:extLst>
                    <a:ext uri="{9D8B030D-6E8A-4147-A177-3AD203B41FA5}">
                      <a16:colId xmlns:a16="http://schemas.microsoft.com/office/drawing/2014/main" val="2430121591"/>
                    </a:ext>
                  </a:extLst>
                </a:gridCol>
              </a:tblGrid>
              <a:tr h="472310">
                <a:tc>
                  <a:txBody>
                    <a:bodyPr/>
                    <a:lstStyle/>
                    <a:p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Data Item</a:t>
                      </a:r>
                    </a:p>
                  </a:txBody>
                  <a:tcPr marL="103425" marR="103425" marT="103425" marB="517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Importance</a:t>
                      </a:r>
                    </a:p>
                  </a:txBody>
                  <a:tcPr marL="103425" marR="103425" marT="103425" marB="517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60">
                          <a:solidFill>
                            <a:schemeClr val="bg1"/>
                          </a:solidFill>
                        </a:rPr>
                        <a:t>Accessible </a:t>
                      </a:r>
                    </a:p>
                  </a:txBody>
                  <a:tcPr marL="103425" marR="103425" marT="103425" marB="5171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50477"/>
                  </a:ext>
                </a:extLst>
              </a:tr>
              <a:tr h="67916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Customers Data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To analyze customer behavior, region-based sales, repeat purchases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Simulate CSV/JSON datasets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663978"/>
                  </a:ext>
                </a:extLst>
              </a:tr>
              <a:tr h="43783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Products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Central to sales, pricing, and category analysis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Simulate CSV/JSON datasets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151794"/>
                  </a:ext>
                </a:extLst>
              </a:tr>
              <a:tr h="43783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Orders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Main transactional dataset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Simulate CSV/JSON datasets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90165"/>
                  </a:ext>
                </a:extLst>
              </a:tr>
              <a:tr h="679161">
                <a:tc>
                  <a:txBody>
                    <a:bodyPr/>
                    <a:lstStyle/>
                    <a:p>
                      <a:r>
                        <a:rPr lang="en-US" sz="1600" cap="none" spc="0" err="1">
                          <a:solidFill>
                            <a:schemeClr val="tx1"/>
                          </a:solidFill>
                        </a:rPr>
                        <a:t>Order_Items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To connect products with orders (many-to-many relationship)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Simulate CSV/JSON datasets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890687"/>
                  </a:ext>
                </a:extLst>
              </a:tr>
              <a:tr h="437835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Inventory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For supply chain health.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Simulate CSV/JSON datasets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040894"/>
                  </a:ext>
                </a:extLst>
              </a:tr>
              <a:tr h="679161"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Consumer Price Index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Measure general price inflation in the economy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cap="none" spc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https://fred.stlouisfed.org/series/CPIAUCSL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(CSV file)</a:t>
                      </a:r>
                    </a:p>
                  </a:txBody>
                  <a:tcPr marL="103425" marR="103425" marT="103425" marB="517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896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4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B880B-29EC-D6F8-C6EE-C2141FD6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86" y="303835"/>
            <a:ext cx="11967428" cy="7855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300" dirty="0"/>
              <a:t>Alignment with the Data Engineering Lifecycle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B4363FD-D4E5-C2C8-2640-D9A3CAD8087F}"/>
              </a:ext>
            </a:extLst>
          </p:cNvPr>
          <p:cNvSpPr/>
          <p:nvPr/>
        </p:nvSpPr>
        <p:spPr>
          <a:xfrm>
            <a:off x="359226" y="2262166"/>
            <a:ext cx="2166260" cy="1349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Collecting simulated datasets (CSV/JSON),</a:t>
            </a:r>
          </a:p>
          <a:p>
            <a:r>
              <a:rPr lang="en-US" sz="1600" dirty="0"/>
              <a:t>Web scripting</a:t>
            </a:r>
            <a:endParaRPr lang="en-US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41441-EE2D-BF16-6DCE-5640B43A87CF}"/>
              </a:ext>
            </a:extLst>
          </p:cNvPr>
          <p:cNvSpPr/>
          <p:nvPr/>
        </p:nvSpPr>
        <p:spPr>
          <a:xfrm>
            <a:off x="3438466" y="1779008"/>
            <a:ext cx="1764908" cy="1062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Upload raw CSV files into Databricks</a:t>
            </a:r>
            <a:br>
              <a:rPr lang="en-US" sz="1500" dirty="0"/>
            </a:br>
            <a:r>
              <a:rPr lang="en-US" sz="1500" dirty="0"/>
              <a:t>Read files using Spark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F626E-614B-BF87-46D3-B34DDC97F081}"/>
              </a:ext>
            </a:extLst>
          </p:cNvPr>
          <p:cNvSpPr/>
          <p:nvPr/>
        </p:nvSpPr>
        <p:spPr>
          <a:xfrm>
            <a:off x="5410710" y="1773831"/>
            <a:ext cx="3003035" cy="1062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Clean and structure data</a:t>
            </a:r>
            <a:br>
              <a:rPr lang="en-US" sz="1500" dirty="0"/>
            </a:br>
            <a:r>
              <a:rPr lang="en-US" sz="1500" dirty="0"/>
              <a:t>Store cleaned data</a:t>
            </a:r>
            <a:br>
              <a:rPr lang="en-US" sz="1500" dirty="0"/>
            </a:br>
            <a:r>
              <a:rPr lang="en-US" sz="1500" dirty="0"/>
              <a:t>Rady for analytical  and storage and analytics use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D9F9A-452C-06E9-12E9-06700AA6BF83}"/>
              </a:ext>
            </a:extLst>
          </p:cNvPr>
          <p:cNvSpPr/>
          <p:nvPr/>
        </p:nvSpPr>
        <p:spPr>
          <a:xfrm>
            <a:off x="8630949" y="1746348"/>
            <a:ext cx="1764908" cy="1062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Creating dashboards and reports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DAA5CE-F9BB-F5E0-5F99-0FDB9DC7684F}"/>
              </a:ext>
            </a:extLst>
          </p:cNvPr>
          <p:cNvSpPr/>
          <p:nvPr/>
        </p:nvSpPr>
        <p:spPr>
          <a:xfrm>
            <a:off x="3438466" y="2926194"/>
            <a:ext cx="6957391" cy="1062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PostgreSQL/SQLite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D1D4AA4-34F2-4B4D-268F-382A51D53BA8}"/>
              </a:ext>
            </a:extLst>
          </p:cNvPr>
          <p:cNvSpPr/>
          <p:nvPr/>
        </p:nvSpPr>
        <p:spPr>
          <a:xfrm>
            <a:off x="2579913" y="2786757"/>
            <a:ext cx="736939" cy="2265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92471-8E3A-CBF0-9EE1-A9EED2B0F711}"/>
              </a:ext>
            </a:extLst>
          </p:cNvPr>
          <p:cNvSpPr txBox="1"/>
          <p:nvPr/>
        </p:nvSpPr>
        <p:spPr>
          <a:xfrm>
            <a:off x="489857" y="1773831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FAD0E-FB8A-316A-DC0F-CD8B58847584}"/>
              </a:ext>
            </a:extLst>
          </p:cNvPr>
          <p:cNvSpPr txBox="1"/>
          <p:nvPr/>
        </p:nvSpPr>
        <p:spPr>
          <a:xfrm>
            <a:off x="3309260" y="1332935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Ingestion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E6EB2-2AD5-1668-7780-0C38D2BD5C41}"/>
              </a:ext>
            </a:extLst>
          </p:cNvPr>
          <p:cNvSpPr txBox="1"/>
          <p:nvPr/>
        </p:nvSpPr>
        <p:spPr>
          <a:xfrm>
            <a:off x="5965170" y="1341758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B6408-4517-BBA6-9A0F-09F6F42C3520}"/>
              </a:ext>
            </a:extLst>
          </p:cNvPr>
          <p:cNvSpPr txBox="1"/>
          <p:nvPr/>
        </p:nvSpPr>
        <p:spPr>
          <a:xfrm>
            <a:off x="8501743" y="1359193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01A72-12A6-6236-34F4-253C53532CBF}"/>
              </a:ext>
            </a:extLst>
          </p:cNvPr>
          <p:cNvSpPr txBox="1"/>
          <p:nvPr/>
        </p:nvSpPr>
        <p:spPr>
          <a:xfrm>
            <a:off x="5965170" y="4078557"/>
            <a:ext cx="1894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336426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A7508-1201-1840-4AA3-E686893F4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&amp; Technologies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91A61C1A-01FE-595B-D03C-DFE17BE72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21085"/>
              </p:ext>
            </p:extLst>
          </p:nvPr>
        </p:nvGraphicFramePr>
        <p:xfrm>
          <a:off x="1003329" y="1966293"/>
          <a:ext cx="10185341" cy="445216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3744100">
                  <a:extLst>
                    <a:ext uri="{9D8B030D-6E8A-4147-A177-3AD203B41FA5}">
                      <a16:colId xmlns:a16="http://schemas.microsoft.com/office/drawing/2014/main" val="4055218165"/>
                    </a:ext>
                  </a:extLst>
                </a:gridCol>
                <a:gridCol w="6441241">
                  <a:extLst>
                    <a:ext uri="{9D8B030D-6E8A-4147-A177-3AD203B41FA5}">
                      <a16:colId xmlns:a16="http://schemas.microsoft.com/office/drawing/2014/main" val="4165113719"/>
                    </a:ext>
                  </a:extLst>
                </a:gridCol>
              </a:tblGrid>
              <a:tr h="742027">
                <a:tc>
                  <a:txBody>
                    <a:bodyPr/>
                    <a:lstStyle/>
                    <a:p>
                      <a:r>
                        <a:rPr lang="en-US" sz="2400" b="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203796" marR="156766" marT="156766" marB="156766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none" spc="0">
                          <a:solidFill>
                            <a:schemeClr val="bg1"/>
                          </a:solidFill>
                        </a:rPr>
                        <a:t>Tool / Technology</a:t>
                      </a:r>
                    </a:p>
                  </a:txBody>
                  <a:tcPr marL="203796" marR="156766" marT="156766" marB="1567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66724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Data Ingestion</a:t>
                      </a:r>
                    </a:p>
                  </a:txBody>
                  <a:tcPr marL="203796" marR="156766" marT="156766" marB="15676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Python (pandas, CSV/JSON)</a:t>
                      </a:r>
                    </a:p>
                  </a:txBody>
                  <a:tcPr marL="203796" marR="156766" marT="156766" marB="15676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26231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Data Processing</a:t>
                      </a:r>
                    </a:p>
                  </a:txBody>
                  <a:tcPr marL="203796" marR="156766" marT="156766" marB="156766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Python (pandas), SQL</a:t>
                      </a:r>
                    </a:p>
                  </a:txBody>
                  <a:tcPr marL="203796" marR="156766" marT="156766" marB="156766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183110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Data Storage</a:t>
                      </a:r>
                    </a:p>
                  </a:txBody>
                  <a:tcPr marL="203796" marR="156766" marT="156766" marB="15676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PostgreSQL / SQLite</a:t>
                      </a:r>
                    </a:p>
                  </a:txBody>
                  <a:tcPr marL="203796" marR="156766" marT="156766" marB="15676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90067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Analytics / Visualization</a:t>
                      </a:r>
                    </a:p>
                  </a:txBody>
                  <a:tcPr marL="203796" marR="156766" marT="156766" marB="156766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Python (matplotlib), 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03796" marR="156766" marT="156766" marB="156766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266965"/>
                  </a:ext>
                </a:extLst>
              </a:tr>
              <a:tr h="742027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Collaboration</a:t>
                      </a:r>
                    </a:p>
                  </a:txBody>
                  <a:tcPr marL="203796" marR="156766" marT="156766" marB="156766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GitHub, Slack</a:t>
                      </a:r>
                    </a:p>
                  </a:txBody>
                  <a:tcPr marL="203796" marR="156766" marT="156766" marB="156766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215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84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FE9E1-4873-94F7-7BE2-1E8C7A51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Teamwork 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6365-2B4D-2773-E1CA-9A480AB0B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839389"/>
            <a:ext cx="11702141" cy="48770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400" dirty="0"/>
              <a:t>     </a:t>
            </a:r>
            <a:r>
              <a:rPr lang="en-US" sz="1400" b="1" dirty="0"/>
              <a:t>1-  Roles &amp; Responsibilities:</a:t>
            </a:r>
          </a:p>
          <a:p>
            <a:pPr marL="0" indent="0">
              <a:buNone/>
            </a:pPr>
            <a:r>
              <a:rPr lang="en-US" sz="1400" dirty="0"/>
              <a:t>                 Each team member will have defined roles: Data Ingestion, Processing, Database Design,  Analytics/Dashboard, Documentation/Presentation.</a:t>
            </a:r>
          </a:p>
          <a:p>
            <a:pPr marL="0" indent="0">
              <a:buNone/>
            </a:pPr>
            <a:r>
              <a:rPr lang="en-US" sz="1400" b="1" dirty="0"/>
              <a:t>2- Code Collaboration: </a:t>
            </a:r>
          </a:p>
          <a:p>
            <a:pPr marL="0" indent="0">
              <a:buNone/>
            </a:pPr>
            <a:r>
              <a:rPr lang="en-US" sz="1400" dirty="0"/>
              <a:t>          Use GitHub for version control and collaborative development.</a:t>
            </a:r>
          </a:p>
          <a:p>
            <a:pPr marL="0" indent="0">
              <a:buNone/>
            </a:pPr>
            <a:r>
              <a:rPr lang="en-US" sz="1400" dirty="0"/>
              <a:t>         Code reviews for quality assurance before merging.</a:t>
            </a:r>
          </a:p>
          <a:p>
            <a:pPr marL="0" indent="0">
              <a:buNone/>
            </a:pPr>
            <a:r>
              <a:rPr lang="en-US" sz="1400" b="1" dirty="0"/>
              <a:t>3- Communication &amp; Meetings:</a:t>
            </a:r>
          </a:p>
          <a:p>
            <a:pPr lvl="1"/>
            <a:r>
              <a:rPr lang="en-US" sz="1400" dirty="0"/>
              <a:t> Weekly team meetings to discuss progress, challenges, and next steps.</a:t>
            </a:r>
          </a:p>
          <a:p>
            <a:pPr lvl="1"/>
            <a:r>
              <a:rPr lang="en-US" sz="1400" dirty="0"/>
              <a:t>Use Slack/Discord for day-to-day communication.</a:t>
            </a:r>
          </a:p>
          <a:p>
            <a:pPr marL="0" indent="0">
              <a:buNone/>
            </a:pPr>
            <a:r>
              <a:rPr lang="en-US" sz="1400" b="1" dirty="0"/>
              <a:t>4- Conflict Resolution:</a:t>
            </a:r>
          </a:p>
          <a:p>
            <a:pPr marL="0" indent="0">
              <a:buNone/>
            </a:pPr>
            <a:r>
              <a:rPr lang="en-US" sz="1400" dirty="0"/>
              <a:t>                Open discussion and role reassignment if workload is unbalanced.</a:t>
            </a:r>
          </a:p>
          <a:p>
            <a:pPr marL="0" indent="0">
              <a:buNone/>
            </a:pPr>
            <a:r>
              <a:rPr lang="en-US" sz="1400" dirty="0"/>
              <a:t>                Document contributions.</a:t>
            </a:r>
          </a:p>
          <a:p>
            <a:pPr marL="0" indent="0">
              <a:buNone/>
            </a:pPr>
            <a:r>
              <a:rPr lang="en-US" sz="1400" b="1" dirty="0"/>
              <a:t>5- Documentation:</a:t>
            </a:r>
          </a:p>
          <a:p>
            <a:pPr marL="0" indent="0">
              <a:buNone/>
            </a:pPr>
            <a:r>
              <a:rPr lang="en-US" sz="1400" dirty="0"/>
              <a:t>            Maintain a shared project report and README with clear explanation of pipeline, methods, and insights.</a:t>
            </a: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316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8BE9E-8BB7-90A7-6E2D-2157FC18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Challenges might be happened 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1F9AB0-41CF-6256-50CA-2858D3BAB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87291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5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647</Words>
  <Application>Microsoft Office PowerPoint</Application>
  <PresentationFormat>Widescreen</PresentationFormat>
  <Paragraphs>103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Data Pipeline for a Manufacture-to-Customer Online Shopping Platform</vt:lpstr>
      <vt:lpstr>Background &amp; Problem Statement</vt:lpstr>
      <vt:lpstr>Project Objective</vt:lpstr>
      <vt:lpstr>Alignment with Data Engineering life cycle</vt:lpstr>
      <vt:lpstr>Possible Data Sources</vt:lpstr>
      <vt:lpstr>Alignment with the Data Engineering Lifecycle </vt:lpstr>
      <vt:lpstr>Tools &amp; Technologies</vt:lpstr>
      <vt:lpstr>Teamwork Policy</vt:lpstr>
      <vt:lpstr>Challenges might be happened 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CAPS-EmpowerELP</dc:creator>
  <cp:lastModifiedBy>CAPS-EmpowerELP</cp:lastModifiedBy>
  <cp:revision>45</cp:revision>
  <dcterms:created xsi:type="dcterms:W3CDTF">2026-02-25T00:35:57Z</dcterms:created>
  <dcterms:modified xsi:type="dcterms:W3CDTF">2026-02-28T16:02:23Z</dcterms:modified>
</cp:coreProperties>
</file>